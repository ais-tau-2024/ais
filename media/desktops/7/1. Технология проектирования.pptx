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1"/>
  </p:notesMasterIdLst>
  <p:handoutMasterIdLst>
    <p:handoutMasterId r:id="rId32"/>
  </p:handoutMasterIdLst>
  <p:sldIdLst>
    <p:sldId id="256" r:id="rId2"/>
    <p:sldId id="274" r:id="rId3"/>
    <p:sldId id="258" r:id="rId4"/>
    <p:sldId id="313" r:id="rId5"/>
    <p:sldId id="314" r:id="rId6"/>
    <p:sldId id="315" r:id="rId7"/>
    <p:sldId id="316" r:id="rId8"/>
    <p:sldId id="317" r:id="rId9"/>
    <p:sldId id="318" r:id="rId10"/>
    <p:sldId id="319" r:id="rId11"/>
    <p:sldId id="320" r:id="rId12"/>
    <p:sldId id="321" r:id="rId13"/>
    <p:sldId id="322" r:id="rId14"/>
    <p:sldId id="323" r:id="rId15"/>
    <p:sldId id="324" r:id="rId16"/>
    <p:sldId id="325" r:id="rId17"/>
    <p:sldId id="326" r:id="rId18"/>
    <p:sldId id="328" r:id="rId19"/>
    <p:sldId id="329" r:id="rId20"/>
    <p:sldId id="330" r:id="rId21"/>
    <p:sldId id="331" r:id="rId22"/>
    <p:sldId id="332" r:id="rId23"/>
    <p:sldId id="333" r:id="rId24"/>
    <p:sldId id="334" r:id="rId25"/>
    <p:sldId id="335" r:id="rId26"/>
    <p:sldId id="336" r:id="rId27"/>
    <p:sldId id="277" r:id="rId28"/>
    <p:sldId id="337" r:id="rId29"/>
    <p:sldId id="312"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72" d="100"/>
          <a:sy n="72" d="100"/>
        </p:scale>
        <p:origin x="-576" y="1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a:extLst>
              <a:ext uri="{FF2B5EF4-FFF2-40B4-BE49-F238E27FC236}">
                <a16:creationId xmlns:a16="http://schemas.microsoft.com/office/drawing/2014/main" xmlns="" id="{89A67639-4F6C-2277-9809-67D7148C8D4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a:extLst>
              <a:ext uri="{FF2B5EF4-FFF2-40B4-BE49-F238E27FC236}">
                <a16:creationId xmlns:a16="http://schemas.microsoft.com/office/drawing/2014/main" xmlns="" id="{2E5AE7BB-207B-E9B1-CD1E-EE436422E4E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E3895C-4DD2-4DA9-BCAB-1A7DFB40A0B3}" type="datetimeFigureOut">
              <a:rPr lang="ru-RU" smtClean="0"/>
              <a:t>04.03.2025</a:t>
            </a:fld>
            <a:endParaRPr lang="ru-RU"/>
          </a:p>
        </p:txBody>
      </p:sp>
      <p:sp>
        <p:nvSpPr>
          <p:cNvPr id="4" name="Нижний колонтитул 3">
            <a:extLst>
              <a:ext uri="{FF2B5EF4-FFF2-40B4-BE49-F238E27FC236}">
                <a16:creationId xmlns:a16="http://schemas.microsoft.com/office/drawing/2014/main" xmlns="" id="{FF9AC06F-2498-99D3-85D1-1D792385B06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5" name="Номер слайда 4">
            <a:extLst>
              <a:ext uri="{FF2B5EF4-FFF2-40B4-BE49-F238E27FC236}">
                <a16:creationId xmlns:a16="http://schemas.microsoft.com/office/drawing/2014/main" xmlns="" id="{A32A9928-365A-9C3F-B61A-172076E1C94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AE0A09D-4031-4FE9-8017-D8289DD159AC}" type="slidenum">
              <a:rPr lang="ru-RU" smtClean="0"/>
              <a:t>‹#›</a:t>
            </a:fld>
            <a:endParaRPr lang="ru-RU"/>
          </a:p>
        </p:txBody>
      </p:sp>
    </p:spTree>
    <p:extLst>
      <p:ext uri="{BB962C8B-B14F-4D97-AF65-F5344CB8AC3E}">
        <p14:creationId xmlns:p14="http://schemas.microsoft.com/office/powerpoint/2010/main" val="2359109085"/>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C3AE9F-69F3-40CE-8F0C-FCAEB469A51B}" type="datetimeFigureOut">
              <a:rPr lang="ru-RU" smtClean="0"/>
              <a:t>04.03.2025</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63754D-F72B-4B68-B844-E08CBD229BA1}" type="slidenum">
              <a:rPr lang="ru-RU" smtClean="0"/>
              <a:t>‹#›</a:t>
            </a:fld>
            <a:endParaRPr lang="ru-RU"/>
          </a:p>
        </p:txBody>
      </p:sp>
    </p:spTree>
    <p:extLst>
      <p:ext uri="{BB962C8B-B14F-4D97-AF65-F5344CB8AC3E}">
        <p14:creationId xmlns:p14="http://schemas.microsoft.com/office/powerpoint/2010/main" val="3445030371"/>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ru-RU"/>
              <a:t>Образец заголовка</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3/4/2025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ru-RU"/>
              <a:t>Образец заголовка</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48A87A34-81AB-432B-8DAE-1953F412C126}"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141410" y="3073397"/>
            <a:ext cx="4878391" cy="2717801"/>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172200" y="3073397"/>
            <a:ext cx="4875210" cy="2717801"/>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3/4/2025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3/4/2025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3/4/2025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ru-RU"/>
              <a:t>Образец заголовка</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48A87A34-81AB-432B-8DAE-1953F412C126}"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48A87A34-81AB-432B-8DAE-1953F412C126}"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ru-RU"/>
              <a:t>Образец заголовка</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ru-RU"/>
              <a:t>Вставка рисунка</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48A87A34-81AB-432B-8DAE-1953F412C126}"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ru-RU"/>
              <a:t>Образец заголовка</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48A87A34-81AB-432B-8DAE-1953F412C126}"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ru-RU"/>
              <a:t>Образец заголовка</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48A87A34-81AB-432B-8DAE-1953F412C126}"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ru-RU"/>
              <a:t>Образец заголовка</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Date Placeholder 4"/>
          <p:cNvSpPr>
            <a:spLocks noGrp="1"/>
          </p:cNvSpPr>
          <p:nvPr>
            <p:ph type="dt" sz="half" idx="10"/>
          </p:nvPr>
        </p:nvSpPr>
        <p:spPr/>
        <p:txBody>
          <a:bodyPr/>
          <a:lstStyle/>
          <a:p>
            <a:fld id="{48A87A34-81AB-432B-8DAE-1953F412C126}" type="datetimeFigureOut">
              <a:rPr lang="en-US" dirty="0"/>
              <a:t>3/4/2025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ru-RU"/>
              <a:t>Образец заголовка</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48A87A34-81AB-432B-8DAE-1953F412C126}" type="datetimeFigureOut">
              <a:rPr lang="en-US" dirty="0"/>
              <a:t>3/4/2025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ru-RU"/>
              <a:t>Образец заголовка</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a:t>Вставка рисунка</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a:t>Вставка рисунка</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ru-RU"/>
              <a:t>Вставка рисунка</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3" name="Date Placeholder 2"/>
          <p:cNvSpPr>
            <a:spLocks noGrp="1"/>
          </p:cNvSpPr>
          <p:nvPr>
            <p:ph type="dt" sz="half" idx="10"/>
          </p:nvPr>
        </p:nvSpPr>
        <p:spPr/>
        <p:txBody>
          <a:bodyPr/>
          <a:lstStyle/>
          <a:p>
            <a:fld id="{48A87A34-81AB-432B-8DAE-1953F412C126}" type="datetimeFigureOut">
              <a:rPr lang="en-US" dirty="0"/>
              <a:t>3/4/2025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3/4/2025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3/4/2025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synergy.ru/akademiya/programming/chto_takoe_alfavit_programmirovaniya" TargetMode="External"/><Relationship Id="rId2" Type="http://schemas.openxmlformats.org/officeDocument/2006/relationships/hyperlink" Target="https://skillbox.ru/media/code/yazyki_programmirovaniya_chto_eto_takoe/" TargetMode="External"/><Relationship Id="rId1" Type="http://schemas.openxmlformats.org/officeDocument/2006/relationships/slideLayout" Target="../slideLayouts/slideLayout2.xml"/><Relationship Id="rId6" Type="http://schemas.openxmlformats.org/officeDocument/2006/relationships/hyperlink" Target="https://encode.ru/blog/urovni-yazykov-programmirovaniya-klassifikaciya-i-osobennosti" TargetMode="External"/><Relationship Id="rId5" Type="http://schemas.openxmlformats.org/officeDocument/2006/relationships/hyperlink" Target="https://spravochnick.ru/informatika/ponyatie_semantiki_v_informatike/" TargetMode="External"/><Relationship Id="rId4" Type="http://schemas.openxmlformats.org/officeDocument/2006/relationships/hyperlink" Target="https://tgmaster.ru/2024/02/26/sintaksis-yazyka-programmirovaniya-ponyatie-osobennosti-i-vazhnost-ego-pravilnogo-ispolzovaniya-dlya-sozdaniya-effektivnyh-algoritmov-i-programm/" TargetMode="External"/></Relationships>
</file>

<file path=ppt/slides/_rels/slide28.xml.rels><?xml version="1.0" encoding="UTF-8" standalone="yes"?>
<Relationships xmlns="http://schemas.openxmlformats.org/package/2006/relationships"><Relationship Id="rId8" Type="http://schemas.openxmlformats.org/officeDocument/2006/relationships/hyperlink" Target="https://studme.org/210659/informatika/obektno_orientirovannaya_paradigma" TargetMode="External"/><Relationship Id="rId3" Type="http://schemas.openxmlformats.org/officeDocument/2006/relationships/hyperlink" Target="https://practicum.yandex.ru/blog/chto-takoe-java-dlya-nachinayuschih/" TargetMode="External"/><Relationship Id="rId7" Type="http://schemas.openxmlformats.org/officeDocument/2006/relationships/hyperlink" Target="https://skillbox.ru/media/code/paradigmy-programmirovaniya-imperativnaya-deklarativnaya-oop-funktsionalnaya-i-drugie/" TargetMode="External"/><Relationship Id="rId2" Type="http://schemas.openxmlformats.org/officeDocument/2006/relationships/hyperlink" Target="https://blog.sf.education/kakie-byvayut-yazyki-programmirovaniya/" TargetMode="External"/><Relationship Id="rId1" Type="http://schemas.openxmlformats.org/officeDocument/2006/relationships/slideLayout" Target="../slideLayouts/slideLayout2.xml"/><Relationship Id="rId6" Type="http://schemas.openxmlformats.org/officeDocument/2006/relationships/hyperlink" Target="https://gb.ru/blog/paradigmy-programmirovaniya/" TargetMode="External"/><Relationship Id="rId5" Type="http://schemas.openxmlformats.org/officeDocument/2006/relationships/hyperlink" Target="https://tproger.ru/explain/tipizacija-jazykov-programmirovanija-razbiraemsja-v-osnovah" TargetMode="External"/><Relationship Id="rId4" Type="http://schemas.openxmlformats.org/officeDocument/2006/relationships/hyperlink" Target="https://wiki.fenix.help/informatika/klassifikatsiya-yazykov-programmirovaniya" TargetMode="External"/><Relationship Id="rId9" Type="http://schemas.openxmlformats.org/officeDocument/2006/relationships/hyperlink" Target="https://tproger.ru/experts/imperative-and-declarative-programming"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6BAF722A-53CC-CCEC-F28B-6A4CC12DEE16}"/>
              </a:ext>
            </a:extLst>
          </p:cNvPr>
          <p:cNvSpPr>
            <a:spLocks noGrp="1"/>
          </p:cNvSpPr>
          <p:nvPr>
            <p:ph type="ctrTitle"/>
          </p:nvPr>
        </p:nvSpPr>
        <p:spPr>
          <a:xfrm>
            <a:off x="1700212" y="2561492"/>
            <a:ext cx="8791575" cy="1735015"/>
          </a:xfrm>
        </p:spPr>
        <p:txBody>
          <a:bodyPr>
            <a:noAutofit/>
          </a:bodyPr>
          <a:lstStyle/>
          <a:p>
            <a:pPr algn="ctr"/>
            <a:r>
              <a:rPr lang="ru-RU" sz="3600" dirty="0"/>
              <a:t>Особенности технологии проектирования языков программирования</a:t>
            </a:r>
          </a:p>
        </p:txBody>
      </p:sp>
      <p:pic>
        <p:nvPicPr>
          <p:cNvPr id="5" name="Рисунок 4">
            <a:extLst>
              <a:ext uri="{FF2B5EF4-FFF2-40B4-BE49-F238E27FC236}">
                <a16:creationId xmlns:a16="http://schemas.microsoft.com/office/drawing/2014/main" xmlns="" id="{27CD1C4F-40C3-C435-0913-D1062C7E8C9A}"/>
              </a:ext>
            </a:extLst>
          </p:cNvPr>
          <p:cNvPicPr>
            <a:picLocks noChangeAspect="1"/>
          </p:cNvPicPr>
          <p:nvPr/>
        </p:nvPicPr>
        <p:blipFill>
          <a:blip r:embed="rId2"/>
          <a:stretch>
            <a:fillRect/>
          </a:stretch>
        </p:blipFill>
        <p:spPr>
          <a:xfrm>
            <a:off x="5442260" y="158436"/>
            <a:ext cx="1307477" cy="1307477"/>
          </a:xfrm>
          <a:prstGeom prst="rect">
            <a:avLst/>
          </a:prstGeom>
        </p:spPr>
      </p:pic>
      <p:sp>
        <p:nvSpPr>
          <p:cNvPr id="4" name="Подзаголовок 3"/>
          <p:cNvSpPr>
            <a:spLocks noGrp="1"/>
          </p:cNvSpPr>
          <p:nvPr>
            <p:ph type="subTitle" idx="1"/>
          </p:nvPr>
        </p:nvSpPr>
        <p:spPr>
          <a:xfrm>
            <a:off x="1876424" y="4423673"/>
            <a:ext cx="8791575" cy="1655762"/>
          </a:xfrm>
        </p:spPr>
        <p:txBody>
          <a:bodyPr/>
          <a:lstStyle/>
          <a:p>
            <a:endParaRPr lang="ru-RU" dirty="0"/>
          </a:p>
        </p:txBody>
      </p:sp>
    </p:spTree>
    <p:extLst>
      <p:ext uri="{BB962C8B-B14F-4D97-AF65-F5344CB8AC3E}">
        <p14:creationId xmlns:p14="http://schemas.microsoft.com/office/powerpoint/2010/main" val="388006924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6436891-0F99-537A-80C5-395D81E9C751}"/>
              </a:ext>
            </a:extLst>
          </p:cNvPr>
          <p:cNvSpPr>
            <a:spLocks noGrp="1"/>
          </p:cNvSpPr>
          <p:nvPr>
            <p:ph type="title"/>
          </p:nvPr>
        </p:nvSpPr>
        <p:spPr>
          <a:xfrm>
            <a:off x="1141413" y="328246"/>
            <a:ext cx="9905998" cy="1478570"/>
          </a:xfrm>
        </p:spPr>
        <p:txBody>
          <a:bodyPr/>
          <a:lstStyle/>
          <a:p>
            <a:pPr algn="ctr"/>
            <a:r>
              <a:rPr lang="ru-RU" dirty="0"/>
              <a:t>План лекционного занятия</a:t>
            </a:r>
          </a:p>
        </p:txBody>
      </p:sp>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1412" y="1806816"/>
            <a:ext cx="9905999" cy="4511922"/>
          </a:xfrm>
        </p:spPr>
        <p:txBody>
          <a:bodyPr>
            <a:normAutofit fontScale="92500"/>
          </a:bodyPr>
          <a:lstStyle/>
          <a:p>
            <a:pPr marL="457200" indent="-457200">
              <a:buAutoNum type="arabicPeriod"/>
            </a:pPr>
            <a:r>
              <a:rPr lang="ru-RU" dirty="0"/>
              <a:t>Понятие языка программирования</a:t>
            </a:r>
          </a:p>
          <a:p>
            <a:pPr marL="457200" indent="-457200">
              <a:buAutoNum type="arabicPeriod"/>
            </a:pPr>
            <a:r>
              <a:rPr lang="ru-RU" dirty="0"/>
              <a:t>Классификация языков программирования по уровню абстракции</a:t>
            </a:r>
          </a:p>
          <a:p>
            <a:pPr marL="457200" indent="-457200">
              <a:buAutoNum type="arabicPeriod"/>
            </a:pPr>
            <a:r>
              <a:rPr lang="ru-RU" dirty="0"/>
              <a:t>Классификация языков программирования на основе реализации</a:t>
            </a:r>
          </a:p>
          <a:p>
            <a:pPr marL="457200" indent="-457200">
              <a:buAutoNum type="arabicPeriod"/>
            </a:pPr>
            <a:r>
              <a:rPr lang="ru-RU" dirty="0"/>
              <a:t>Классификация языков программирования по виду типизации</a:t>
            </a:r>
          </a:p>
          <a:p>
            <a:pPr marL="457200" indent="-457200">
              <a:buAutoNum type="arabicPeriod"/>
            </a:pPr>
            <a:r>
              <a:rPr lang="ru-RU" dirty="0"/>
              <a:t>Классификация языков программирования по строгости типизации</a:t>
            </a:r>
            <a:endParaRPr lang="en-US" dirty="0"/>
          </a:p>
          <a:p>
            <a:pPr marL="457200" indent="-457200">
              <a:buAutoNum type="arabicPeriod"/>
            </a:pPr>
            <a:r>
              <a:rPr lang="ru-RU" dirty="0"/>
              <a:t>Классификация языков программирования по парадигме</a:t>
            </a:r>
          </a:p>
          <a:p>
            <a:pPr marL="0" indent="0">
              <a:buNone/>
            </a:pPr>
            <a:r>
              <a:rPr lang="ru-RU" dirty="0"/>
              <a:t>Список рекомендуемой литературы</a:t>
            </a:r>
          </a:p>
        </p:txBody>
      </p:sp>
    </p:spTree>
    <p:extLst>
      <p:ext uri="{BB962C8B-B14F-4D97-AF65-F5344CB8AC3E}">
        <p14:creationId xmlns:p14="http://schemas.microsoft.com/office/powerpoint/2010/main" val="103167613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6436891-0F99-537A-80C5-395D81E9C751}"/>
              </a:ext>
            </a:extLst>
          </p:cNvPr>
          <p:cNvSpPr>
            <a:spLocks noGrp="1"/>
          </p:cNvSpPr>
          <p:nvPr>
            <p:ph type="title"/>
          </p:nvPr>
        </p:nvSpPr>
        <p:spPr>
          <a:xfrm>
            <a:off x="1143001" y="316523"/>
            <a:ext cx="9905998" cy="1207477"/>
          </a:xfrm>
        </p:spPr>
        <p:txBody>
          <a:bodyPr>
            <a:normAutofit/>
          </a:bodyPr>
          <a:lstStyle/>
          <a:p>
            <a:pPr marL="457200" indent="-457200" algn="ctr">
              <a:buFontTx/>
              <a:buAutoNum type="arabicPeriod"/>
            </a:pPr>
            <a:r>
              <a:rPr lang="ru-RU" dirty="0"/>
              <a:t>Понятие языка программирования</a:t>
            </a:r>
          </a:p>
        </p:txBody>
      </p:sp>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marL="0" indent="0" algn="just">
              <a:buNone/>
            </a:pPr>
            <a:r>
              <a:rPr lang="ru-RU" b="1" i="1" dirty="0">
                <a:solidFill>
                  <a:srgbClr val="FFFF00"/>
                </a:solidFill>
              </a:rPr>
              <a:t>Язык программирования</a:t>
            </a:r>
            <a:r>
              <a:rPr lang="ru-RU" dirty="0"/>
              <a:t> — это формальный язык, предназначенный для записи компьютерных программ. Он определяет набор </a:t>
            </a:r>
            <a:r>
              <a:rPr lang="ru-RU" i="1" dirty="0">
                <a:solidFill>
                  <a:srgbClr val="FFFF00"/>
                </a:solidFill>
              </a:rPr>
              <a:t>лексических</a:t>
            </a:r>
            <a:r>
              <a:rPr lang="ru-RU" dirty="0"/>
              <a:t>, </a:t>
            </a:r>
            <a:r>
              <a:rPr lang="ru-RU" i="1" dirty="0">
                <a:solidFill>
                  <a:srgbClr val="FFFF00"/>
                </a:solidFill>
              </a:rPr>
              <a:t>синтаксических</a:t>
            </a:r>
            <a:r>
              <a:rPr lang="ru-RU" dirty="0"/>
              <a:t> и </a:t>
            </a:r>
            <a:r>
              <a:rPr lang="ru-RU" i="1" dirty="0">
                <a:solidFill>
                  <a:srgbClr val="FFFF00"/>
                </a:solidFill>
              </a:rPr>
              <a:t>семантических</a:t>
            </a:r>
            <a:r>
              <a:rPr lang="ru-RU" dirty="0"/>
              <a:t> правил, которые определяют внешний вид программы и действия, выполняемые исполнителем (обычно — ЭВМ) под её управлением. Существует более восьми тысяч языков программирования, и каждый год их число увеличивается. Программисты могут владеть несколькими языками программирования, и каждый из них предназначен для решения определенных задач в области вычислений и управления различными объектами.</a:t>
            </a:r>
          </a:p>
        </p:txBody>
      </p:sp>
    </p:spTree>
    <p:extLst>
      <p:ext uri="{BB962C8B-B14F-4D97-AF65-F5344CB8AC3E}">
        <p14:creationId xmlns:p14="http://schemas.microsoft.com/office/powerpoint/2010/main" val="158797050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marL="0" indent="0" algn="just">
              <a:buNone/>
            </a:pPr>
            <a:r>
              <a:rPr lang="ru-RU" b="1" i="1" dirty="0">
                <a:solidFill>
                  <a:srgbClr val="FFFF00"/>
                </a:solidFill>
              </a:rPr>
              <a:t>Алфавит языка программирования</a:t>
            </a:r>
            <a:r>
              <a:rPr lang="ru-RU" dirty="0"/>
              <a:t> — это набор символов, используемых для написания программ. Он включает в себя буквы (строчные и прописные), цифры, специальные символы, такие как знаки арифметических и логических операций, а также разделители и ограничители. Эти символы являются «строительными блоками» для создания инструкций, которые компьютер может интерпретировать и выполнять. Каждый символ в алфавите языка программирования представляет собой минимальную единицу информации и играет ключевую роль в процессе разработки программного обеспечения.</a:t>
            </a:r>
          </a:p>
        </p:txBody>
      </p:sp>
    </p:spTree>
    <p:extLst>
      <p:ext uri="{BB962C8B-B14F-4D97-AF65-F5344CB8AC3E}">
        <p14:creationId xmlns:p14="http://schemas.microsoft.com/office/powerpoint/2010/main" val="208068949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marL="0" indent="0" algn="just">
              <a:buNone/>
            </a:pPr>
            <a:r>
              <a:rPr lang="ru-RU" b="1" i="1" dirty="0">
                <a:solidFill>
                  <a:srgbClr val="FFFF00"/>
                </a:solidFill>
              </a:rPr>
              <a:t>Синтаксис языка программирования</a:t>
            </a:r>
            <a:r>
              <a:rPr lang="ru-RU" dirty="0"/>
              <a:t> — это набор правил, который определяет, какие комбинации символов алфавита считаются правильно структурированными программами или их фрагментами. Эти правила описывают, как слова и символы могут сочетаться между собой, чтобы формировать корректные инструкции.</a:t>
            </a:r>
          </a:p>
          <a:p>
            <a:pPr marL="0" indent="0" algn="just">
              <a:buNone/>
            </a:pPr>
            <a:r>
              <a:rPr lang="ru-RU" dirty="0"/>
              <a:t>Синтаксис противопоставляется семантике, которая приписывает значения различным синтаксическим конструкциям. Таким образом, если синтаксис описывает форму выражений, то семантика определяет их смысл.</a:t>
            </a:r>
          </a:p>
        </p:txBody>
      </p:sp>
    </p:spTree>
    <p:extLst>
      <p:ext uri="{BB962C8B-B14F-4D97-AF65-F5344CB8AC3E}">
        <p14:creationId xmlns:p14="http://schemas.microsoft.com/office/powerpoint/2010/main" val="230591202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marL="0" indent="0" algn="just">
              <a:buNone/>
            </a:pPr>
            <a:r>
              <a:rPr lang="ru-RU" dirty="0"/>
              <a:t>Важно отметить, что синтаксис каждого языка программирования уникален и требует точного следования правилам для того, чтобы программа могла быть корректно интерпретирована и исполнена компьютером.</a:t>
            </a:r>
          </a:p>
          <a:p>
            <a:pPr marL="0" indent="0" algn="just">
              <a:buNone/>
            </a:pPr>
            <a:r>
              <a:rPr lang="ru-RU" dirty="0"/>
              <a:t>Например, синтаксис записи функции включает в себя требования, которым должна удовлетворять запись определения (или вызова) функции. Если синтаксис функции окажется неверным, то компилятор/интерпретатор вернет ошибку, и программа не будет выполнена, пока ошибка не будет исправлена.</a:t>
            </a:r>
          </a:p>
        </p:txBody>
      </p:sp>
    </p:spTree>
    <p:extLst>
      <p:ext uri="{BB962C8B-B14F-4D97-AF65-F5344CB8AC3E}">
        <p14:creationId xmlns:p14="http://schemas.microsoft.com/office/powerpoint/2010/main" val="2543967524"/>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marL="0" indent="0" algn="just">
              <a:buNone/>
            </a:pPr>
            <a:r>
              <a:rPr lang="ru-RU" b="1" i="1" dirty="0">
                <a:solidFill>
                  <a:srgbClr val="FFFF00"/>
                </a:solidFill>
              </a:rPr>
              <a:t>Семантика языка программирования</a:t>
            </a:r>
            <a:r>
              <a:rPr lang="ru-RU" dirty="0"/>
              <a:t> — это аспект, который определяет смысловое значение конструкций языка. В отличие от синтаксиса, который описывает форму выражений, семантика определяет их содержание и поведение в программе.</a:t>
            </a:r>
          </a:p>
          <a:p>
            <a:pPr marL="0" indent="0" algn="just">
              <a:buNone/>
            </a:pPr>
            <a:r>
              <a:rPr lang="ru-RU" dirty="0"/>
              <a:t>Существуют различные подходы к формализации семантики:</a:t>
            </a:r>
          </a:p>
          <a:p>
            <a:pPr algn="just"/>
            <a:r>
              <a:rPr lang="ru-RU" i="1" dirty="0">
                <a:solidFill>
                  <a:srgbClr val="FFFF00"/>
                </a:solidFill>
              </a:rPr>
              <a:t>Операционная семантика</a:t>
            </a:r>
            <a:r>
              <a:rPr lang="ru-RU" dirty="0"/>
              <a:t>. Описывает вычисления как последовательность шагов выполнения программы;</a:t>
            </a:r>
          </a:p>
        </p:txBody>
      </p:sp>
    </p:spTree>
    <p:extLst>
      <p:ext uri="{BB962C8B-B14F-4D97-AF65-F5344CB8AC3E}">
        <p14:creationId xmlns:p14="http://schemas.microsoft.com/office/powerpoint/2010/main" val="322760399"/>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algn="just"/>
            <a:r>
              <a:rPr lang="ru-RU" dirty="0">
                <a:solidFill>
                  <a:srgbClr val="FFFF00"/>
                </a:solidFill>
              </a:rPr>
              <a:t>Денотационная семантика</a:t>
            </a:r>
            <a:r>
              <a:rPr lang="ru-RU" dirty="0"/>
              <a:t>. Связывает выражения с математическими объектами, представляющими их значения;</a:t>
            </a:r>
          </a:p>
          <a:p>
            <a:pPr algn="just"/>
            <a:r>
              <a:rPr lang="ru-RU" dirty="0">
                <a:solidFill>
                  <a:srgbClr val="FFFF00"/>
                </a:solidFill>
              </a:rPr>
              <a:t>Аксиоматическая семантика</a:t>
            </a:r>
            <a:r>
              <a:rPr lang="ru-RU" dirty="0"/>
              <a:t>. Использует набор аксиом или правил вывода для определения семантики конструкций языка.</a:t>
            </a:r>
          </a:p>
          <a:p>
            <a:pPr marL="0" indent="0" algn="just">
              <a:buNone/>
            </a:pPr>
            <a:r>
              <a:rPr lang="ru-RU" dirty="0"/>
              <a:t>Эти подходы позволяют точно и однозначно интерпретировать программный код, что критически важно для разработки, анализа и верификации программного обеспечения.</a:t>
            </a:r>
          </a:p>
        </p:txBody>
      </p:sp>
    </p:spTree>
    <p:extLst>
      <p:ext uri="{BB962C8B-B14F-4D97-AF65-F5344CB8AC3E}">
        <p14:creationId xmlns:p14="http://schemas.microsoft.com/office/powerpoint/2010/main" val="259326928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6436891-0F99-537A-80C5-395D81E9C751}"/>
              </a:ext>
            </a:extLst>
          </p:cNvPr>
          <p:cNvSpPr>
            <a:spLocks noGrp="1"/>
          </p:cNvSpPr>
          <p:nvPr>
            <p:ph type="title"/>
          </p:nvPr>
        </p:nvSpPr>
        <p:spPr>
          <a:xfrm>
            <a:off x="1143001" y="316523"/>
            <a:ext cx="9905998" cy="1207477"/>
          </a:xfrm>
        </p:spPr>
        <p:txBody>
          <a:bodyPr>
            <a:normAutofit fontScale="90000"/>
          </a:bodyPr>
          <a:lstStyle/>
          <a:p>
            <a:pPr algn="ctr"/>
            <a:r>
              <a:rPr lang="en-US" dirty="0"/>
              <a:t>2. </a:t>
            </a:r>
            <a:r>
              <a:rPr lang="ru-RU" dirty="0"/>
              <a:t>Классификация языков программирования по уровню абстракции</a:t>
            </a:r>
          </a:p>
        </p:txBody>
      </p:sp>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fontScale="92500"/>
          </a:bodyPr>
          <a:lstStyle/>
          <a:p>
            <a:pPr marL="0" indent="0" algn="just">
              <a:buNone/>
            </a:pPr>
            <a:r>
              <a:rPr lang="ru-RU" dirty="0"/>
              <a:t>Языки программирования классифицируются </a:t>
            </a:r>
            <a:r>
              <a:rPr lang="ru-RU" b="1" i="1" dirty="0">
                <a:solidFill>
                  <a:srgbClr val="FFFF00"/>
                </a:solidFill>
              </a:rPr>
              <a:t>по уровню абстракции</a:t>
            </a:r>
            <a:r>
              <a:rPr lang="ru-RU" dirty="0"/>
              <a:t> на следующие категории:</a:t>
            </a:r>
          </a:p>
          <a:p>
            <a:pPr algn="just"/>
            <a:r>
              <a:rPr lang="ru-RU" i="1" dirty="0">
                <a:solidFill>
                  <a:srgbClr val="FFFF00"/>
                </a:solidFill>
              </a:rPr>
              <a:t>Низкоуровневые языки</a:t>
            </a:r>
            <a:r>
              <a:rPr lang="en-US" dirty="0"/>
              <a:t>.</a:t>
            </a:r>
            <a:r>
              <a:rPr lang="ru-RU" dirty="0"/>
              <a:t> Эти языки, такие как ассемблер, предоставляют программисту прямой доступ к аппаратному обеспечению компьютера. Они близки к машинному коду и требуют детального понимания работы конкретной аппаратной платформы</a:t>
            </a:r>
            <a:r>
              <a:rPr lang="en-US" dirty="0"/>
              <a:t>;</a:t>
            </a:r>
            <a:endParaRPr lang="ru-RU" dirty="0"/>
          </a:p>
          <a:p>
            <a:pPr algn="just"/>
            <a:r>
              <a:rPr lang="ru-RU" i="1" dirty="0" err="1">
                <a:solidFill>
                  <a:srgbClr val="FFFF00"/>
                </a:solidFill>
              </a:rPr>
              <a:t>Среднеуровневые</a:t>
            </a:r>
            <a:r>
              <a:rPr lang="ru-RU" i="1" dirty="0">
                <a:solidFill>
                  <a:srgbClr val="FFFF00"/>
                </a:solidFill>
              </a:rPr>
              <a:t> языки</a:t>
            </a:r>
            <a:r>
              <a:rPr lang="ru-RU" dirty="0"/>
              <a:t>. Языки этой категории, включая C и C++, предоставляют более высокий уровень абстракции по сравнению с ассемблером, но все еще позволяют программисту контролировать аппаратные ресурсы и работать с памятью напрямую;</a:t>
            </a:r>
          </a:p>
        </p:txBody>
      </p:sp>
    </p:spTree>
    <p:extLst>
      <p:ext uri="{BB962C8B-B14F-4D97-AF65-F5344CB8AC3E}">
        <p14:creationId xmlns:p14="http://schemas.microsoft.com/office/powerpoint/2010/main" val="210026500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algn="just"/>
            <a:r>
              <a:rPr lang="ru-RU" i="1" dirty="0">
                <a:solidFill>
                  <a:srgbClr val="FFFF00"/>
                </a:solidFill>
              </a:rPr>
              <a:t>Высокоуровневые языки</a:t>
            </a:r>
            <a:r>
              <a:rPr lang="ru-RU" dirty="0"/>
              <a:t>. Эти языки, такие как Java, Python, и многие другие, предоставляют высокий уровень абстракции и упрощают программирование за счет сокрытия деталей работы аппаратуры. Они ориентированы на решение задач, а не на управление ресурсами компьютера.</a:t>
            </a:r>
          </a:p>
          <a:p>
            <a:pPr marL="0" indent="0" algn="just">
              <a:buNone/>
            </a:pPr>
            <a:r>
              <a:rPr lang="ru-RU" dirty="0"/>
              <a:t>Каждый уровень абстракции предназначен для решения определенных задач и обладает своими достоинствами и недостатками в зависимости от требований к программе и целей разработчика.</a:t>
            </a:r>
          </a:p>
        </p:txBody>
      </p:sp>
    </p:spTree>
    <p:extLst>
      <p:ext uri="{BB962C8B-B14F-4D97-AF65-F5344CB8AC3E}">
        <p14:creationId xmlns:p14="http://schemas.microsoft.com/office/powerpoint/2010/main" val="278896757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6436891-0F99-537A-80C5-395D81E9C751}"/>
              </a:ext>
            </a:extLst>
          </p:cNvPr>
          <p:cNvSpPr>
            <a:spLocks noGrp="1"/>
          </p:cNvSpPr>
          <p:nvPr>
            <p:ph type="title"/>
          </p:nvPr>
        </p:nvSpPr>
        <p:spPr>
          <a:xfrm>
            <a:off x="1143001" y="316523"/>
            <a:ext cx="9905998" cy="2121877"/>
          </a:xfrm>
        </p:spPr>
        <p:txBody>
          <a:bodyPr>
            <a:normAutofit/>
          </a:bodyPr>
          <a:lstStyle/>
          <a:p>
            <a:pPr algn="ctr"/>
            <a:r>
              <a:rPr lang="ru-RU" dirty="0"/>
              <a:t>3</a:t>
            </a:r>
            <a:r>
              <a:rPr lang="en-US" dirty="0"/>
              <a:t>. </a:t>
            </a:r>
            <a:r>
              <a:rPr lang="ru-RU" dirty="0"/>
              <a:t>Классификация языков программирования на основе реализации</a:t>
            </a:r>
          </a:p>
        </p:txBody>
      </p:sp>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2438400"/>
            <a:ext cx="9905999" cy="3938953"/>
          </a:xfrm>
        </p:spPr>
        <p:txBody>
          <a:bodyPr>
            <a:normAutofit/>
          </a:bodyPr>
          <a:lstStyle/>
          <a:p>
            <a:pPr marL="0" indent="0" algn="just">
              <a:buNone/>
            </a:pPr>
            <a:r>
              <a:rPr lang="ru-RU" dirty="0"/>
              <a:t>Языки программирования могут быть классифицированы </a:t>
            </a:r>
            <a:r>
              <a:rPr lang="ru-RU" b="1" i="1" dirty="0">
                <a:solidFill>
                  <a:srgbClr val="FFFF00"/>
                </a:solidFill>
              </a:rPr>
              <a:t>на основе реализации</a:t>
            </a:r>
            <a:r>
              <a:rPr lang="ru-RU" dirty="0"/>
              <a:t> в две основные категории:</a:t>
            </a:r>
          </a:p>
          <a:p>
            <a:pPr algn="just"/>
            <a:r>
              <a:rPr lang="ru-RU" i="1" dirty="0">
                <a:solidFill>
                  <a:srgbClr val="FFFF00"/>
                </a:solidFill>
              </a:rPr>
              <a:t>Компилируемые языки</a:t>
            </a:r>
            <a:r>
              <a:rPr lang="ru-RU" dirty="0"/>
              <a:t>. Программы, написанные на этих языках, преобразуются в машинный код с помощью компилятора перед их выполнением на компьютере. Это означает, что весь код программы компилируется в исполняемый файл, который затем может быть запущен. Примеры компилируемых языков включают C и Java*;</a:t>
            </a:r>
          </a:p>
        </p:txBody>
      </p:sp>
    </p:spTree>
    <p:extLst>
      <p:ext uri="{BB962C8B-B14F-4D97-AF65-F5344CB8AC3E}">
        <p14:creationId xmlns:p14="http://schemas.microsoft.com/office/powerpoint/2010/main" val="385502945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961292"/>
            <a:ext cx="9905999" cy="5416061"/>
          </a:xfrm>
        </p:spPr>
        <p:txBody>
          <a:bodyPr>
            <a:normAutofit lnSpcReduction="10000"/>
          </a:bodyPr>
          <a:lstStyle/>
          <a:p>
            <a:pPr marL="0" indent="0" algn="just">
              <a:buNone/>
            </a:pPr>
            <a:r>
              <a:rPr lang="ru-RU" dirty="0"/>
              <a:t>*Java часто рассматривается как компилируемый язык, потому что исходный код Java сначала компилируется в байт-код, который затем исполняется виртуальной машиной Java (JVM). Однако, JVM интерпретирует байт-код во время выполнения, что делает Java также и интерпретируемым языком.</a:t>
            </a:r>
          </a:p>
          <a:p>
            <a:pPr marL="0" indent="0" algn="just">
              <a:buNone/>
            </a:pPr>
            <a:r>
              <a:rPr lang="ru-RU" dirty="0"/>
              <a:t>Таким образом, </a:t>
            </a:r>
            <a:r>
              <a:rPr lang="ru-RU" i="1" dirty="0">
                <a:solidFill>
                  <a:srgbClr val="FFFF00"/>
                </a:solidFill>
              </a:rPr>
              <a:t>Java сочетает в себе черты как компилируемых, так и интерпретируемых языков</a:t>
            </a:r>
            <a:r>
              <a:rPr lang="ru-RU" dirty="0"/>
              <a:t>. Это позволяет Java обеспечивать переносимость кода между различными платформами, что является одним из ключевых преимуществ языка. В то же время, современные JVM используют JIT-компиляцию (</a:t>
            </a:r>
            <a:r>
              <a:rPr lang="ru-RU" dirty="0" err="1"/>
              <a:t>Just</a:t>
            </a:r>
            <a:r>
              <a:rPr lang="ru-RU" dirty="0"/>
              <a:t>-In-Time </a:t>
            </a:r>
            <a:r>
              <a:rPr lang="ru-RU" dirty="0" err="1"/>
              <a:t>compilation</a:t>
            </a:r>
            <a:r>
              <a:rPr lang="ru-RU" dirty="0"/>
              <a:t>), которая компилирует байт-код в машинный код непосредственно во время выполнения программы, что улучшает производительность.</a:t>
            </a:r>
          </a:p>
        </p:txBody>
      </p:sp>
    </p:spTree>
    <p:extLst>
      <p:ext uri="{BB962C8B-B14F-4D97-AF65-F5344CB8AC3E}">
        <p14:creationId xmlns:p14="http://schemas.microsoft.com/office/powerpoint/2010/main" val="643792538"/>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algn="just"/>
            <a:r>
              <a:rPr lang="ru-RU" i="1" dirty="0">
                <a:solidFill>
                  <a:srgbClr val="FFFF00"/>
                </a:solidFill>
              </a:rPr>
              <a:t>Интерпретируемые языки</a:t>
            </a:r>
            <a:r>
              <a:rPr lang="ru-RU" dirty="0"/>
              <a:t>. Программы на этих языках выполняются посредством интерпретатора, который читает и выполняет код построчно в реальном времени. Это обеспечивает б</a:t>
            </a:r>
            <a:r>
              <a:rPr lang="ru-RU" i="1" dirty="0"/>
              <a:t>о</a:t>
            </a:r>
            <a:r>
              <a:rPr lang="ru-RU" dirty="0"/>
              <a:t>льшую гибкость, но может снижать производительность по сравнению с компилируемыми языками. Примеры интерпретируемых языков включают Python и JavaScript.</a:t>
            </a:r>
          </a:p>
          <a:p>
            <a:pPr marL="0" indent="0" algn="just">
              <a:buNone/>
            </a:pPr>
            <a:r>
              <a:rPr lang="ru-RU" dirty="0"/>
              <a:t>Оба типа имеют свои преимущества и ограничения, и выбор между ними также зависит от конкретных требований к проекту и предпочтений разработчика.</a:t>
            </a:r>
          </a:p>
        </p:txBody>
      </p:sp>
    </p:spTree>
    <p:extLst>
      <p:ext uri="{BB962C8B-B14F-4D97-AF65-F5344CB8AC3E}">
        <p14:creationId xmlns:p14="http://schemas.microsoft.com/office/powerpoint/2010/main" val="342687934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6436891-0F99-537A-80C5-395D81E9C751}"/>
              </a:ext>
            </a:extLst>
          </p:cNvPr>
          <p:cNvSpPr>
            <a:spLocks noGrp="1"/>
          </p:cNvSpPr>
          <p:nvPr>
            <p:ph type="title"/>
          </p:nvPr>
        </p:nvSpPr>
        <p:spPr>
          <a:xfrm>
            <a:off x="1143001" y="316523"/>
            <a:ext cx="9905998" cy="1934308"/>
          </a:xfrm>
        </p:spPr>
        <p:txBody>
          <a:bodyPr>
            <a:normAutofit/>
          </a:bodyPr>
          <a:lstStyle/>
          <a:p>
            <a:pPr algn="ctr"/>
            <a:r>
              <a:rPr lang="ru-RU" dirty="0"/>
              <a:t>4</a:t>
            </a:r>
            <a:r>
              <a:rPr lang="en-US" dirty="0"/>
              <a:t>. </a:t>
            </a:r>
            <a:r>
              <a:rPr lang="ru-RU" dirty="0"/>
              <a:t>Классификация языков программирования по виду типизации</a:t>
            </a:r>
          </a:p>
        </p:txBody>
      </p:sp>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2250831"/>
            <a:ext cx="9905999" cy="4126522"/>
          </a:xfrm>
        </p:spPr>
        <p:txBody>
          <a:bodyPr>
            <a:normAutofit/>
          </a:bodyPr>
          <a:lstStyle/>
          <a:p>
            <a:pPr marL="0" indent="0" algn="just">
              <a:buNone/>
            </a:pPr>
            <a:r>
              <a:rPr lang="ru-RU" dirty="0"/>
              <a:t>Языки программирования могут быть классифицированы </a:t>
            </a:r>
            <a:r>
              <a:rPr lang="ru-RU" b="1" i="1" dirty="0">
                <a:solidFill>
                  <a:srgbClr val="FFFF00"/>
                </a:solidFill>
              </a:rPr>
              <a:t>по виду типизации</a:t>
            </a:r>
            <a:r>
              <a:rPr lang="ru-RU" dirty="0"/>
              <a:t> данных на:</a:t>
            </a:r>
          </a:p>
          <a:p>
            <a:pPr algn="just"/>
            <a:r>
              <a:rPr lang="ru-RU" i="1" dirty="0">
                <a:solidFill>
                  <a:srgbClr val="FFFF00"/>
                </a:solidFill>
              </a:rPr>
              <a:t>Статически типизированные языки</a:t>
            </a:r>
            <a:r>
              <a:rPr lang="ru-RU" dirty="0"/>
              <a:t>. В таких языках тип каждой переменной известен во время компиляции. Это означает, что типы данных проверяются до выполнения программы, что может помочь предотвратить ошибки типов и улучшить производительность. Примеры включают C, C++, Java и </a:t>
            </a:r>
            <a:r>
              <a:rPr lang="ru-RU" dirty="0" err="1"/>
              <a:t>Rust</a:t>
            </a:r>
            <a:r>
              <a:rPr lang="ru-RU" dirty="0"/>
              <a:t>;</a:t>
            </a:r>
          </a:p>
        </p:txBody>
      </p:sp>
    </p:spTree>
    <p:extLst>
      <p:ext uri="{BB962C8B-B14F-4D97-AF65-F5344CB8AC3E}">
        <p14:creationId xmlns:p14="http://schemas.microsoft.com/office/powerpoint/2010/main" val="255278078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algn="just"/>
            <a:r>
              <a:rPr lang="ru-RU" i="1" dirty="0">
                <a:solidFill>
                  <a:srgbClr val="FFFF00"/>
                </a:solidFill>
              </a:rPr>
              <a:t>Динамически типизированные языки</a:t>
            </a:r>
            <a:r>
              <a:rPr lang="ru-RU" dirty="0"/>
              <a:t>. В этих языках типы переменных определяются во время выполнения программы, что обеспечивает б</a:t>
            </a:r>
            <a:r>
              <a:rPr lang="ru-RU" i="1" dirty="0"/>
              <a:t>о</a:t>
            </a:r>
            <a:r>
              <a:rPr lang="ru-RU" dirty="0"/>
              <a:t>льшую гибкость, но может привести к ошибкам типов во время выполнения. Примеры включают Python, Ruby и JavaScript.</a:t>
            </a:r>
          </a:p>
        </p:txBody>
      </p:sp>
    </p:spTree>
    <p:extLst>
      <p:ext uri="{BB962C8B-B14F-4D97-AF65-F5344CB8AC3E}">
        <p14:creationId xmlns:p14="http://schemas.microsoft.com/office/powerpoint/2010/main" val="160922973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6436891-0F99-537A-80C5-395D81E9C751}"/>
              </a:ext>
            </a:extLst>
          </p:cNvPr>
          <p:cNvSpPr>
            <a:spLocks noGrp="1"/>
          </p:cNvSpPr>
          <p:nvPr>
            <p:ph type="title"/>
          </p:nvPr>
        </p:nvSpPr>
        <p:spPr>
          <a:xfrm>
            <a:off x="1143001" y="316523"/>
            <a:ext cx="9905998" cy="2133600"/>
          </a:xfrm>
        </p:spPr>
        <p:txBody>
          <a:bodyPr>
            <a:normAutofit/>
          </a:bodyPr>
          <a:lstStyle/>
          <a:p>
            <a:pPr algn="ctr"/>
            <a:r>
              <a:rPr lang="ru-RU" dirty="0"/>
              <a:t>5</a:t>
            </a:r>
            <a:r>
              <a:rPr lang="en-US" dirty="0"/>
              <a:t>. </a:t>
            </a:r>
            <a:r>
              <a:rPr lang="ru-RU" dirty="0"/>
              <a:t>Классификация языков программирования по строгости типизации</a:t>
            </a:r>
          </a:p>
        </p:txBody>
      </p:sp>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2450123"/>
            <a:ext cx="9905999" cy="3927230"/>
          </a:xfrm>
        </p:spPr>
        <p:txBody>
          <a:bodyPr>
            <a:normAutofit/>
          </a:bodyPr>
          <a:lstStyle/>
          <a:p>
            <a:pPr marL="0" indent="0" algn="just">
              <a:buNone/>
            </a:pPr>
            <a:r>
              <a:rPr lang="ru-RU" dirty="0"/>
              <a:t>Языки программирования </a:t>
            </a:r>
            <a:r>
              <a:rPr lang="ru-RU" b="1" i="1" dirty="0">
                <a:solidFill>
                  <a:srgbClr val="FFFF00"/>
                </a:solidFill>
              </a:rPr>
              <a:t>по строгости типизации</a:t>
            </a:r>
            <a:r>
              <a:rPr lang="ru-RU" dirty="0"/>
              <a:t> делятся на две основные категории:</a:t>
            </a:r>
          </a:p>
          <a:p>
            <a:pPr algn="just"/>
            <a:r>
              <a:rPr lang="ru-RU" i="1" dirty="0">
                <a:solidFill>
                  <a:srgbClr val="FFFF00"/>
                </a:solidFill>
              </a:rPr>
              <a:t>Сильная типизация</a:t>
            </a:r>
            <a:r>
              <a:rPr lang="en-US" dirty="0"/>
              <a:t>.</a:t>
            </a:r>
            <a:r>
              <a:rPr lang="ru-RU" dirty="0"/>
              <a:t> В языках с сильной типизацией операции выполняются только с соответствующими типами данных. Это означает, что неявные преобразования типов обычно не допускаются, и программист должен явно преобразовывать типы при необходимости. Примеры языков с сильной типизацией включают Java и C#</a:t>
            </a:r>
            <a:r>
              <a:rPr lang="en-US" dirty="0"/>
              <a:t>;</a:t>
            </a:r>
            <a:endParaRPr lang="ru-RU" dirty="0"/>
          </a:p>
        </p:txBody>
      </p:sp>
    </p:spTree>
    <p:extLst>
      <p:ext uri="{BB962C8B-B14F-4D97-AF65-F5344CB8AC3E}">
        <p14:creationId xmlns:p14="http://schemas.microsoft.com/office/powerpoint/2010/main" val="1155677771"/>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algn="just"/>
            <a:r>
              <a:rPr lang="ru-RU" i="1" dirty="0">
                <a:solidFill>
                  <a:srgbClr val="FFFF00"/>
                </a:solidFill>
              </a:rPr>
              <a:t>Слабая типизация</a:t>
            </a:r>
            <a:r>
              <a:rPr lang="en-US" dirty="0"/>
              <a:t>.</a:t>
            </a:r>
            <a:r>
              <a:rPr lang="ru-RU" dirty="0"/>
              <a:t> В слабо типизированных языках программирования можно смешивать разные типы данных, и язык может автоматически выполнять операции преобразования с разными типами. Это может сделать код короче, но также может привести к неожиданному поведению программы. Примеры включают PHP и JavaScript.</a:t>
            </a:r>
          </a:p>
          <a:p>
            <a:pPr marL="0" indent="0" algn="just">
              <a:buNone/>
            </a:pPr>
            <a:r>
              <a:rPr lang="ru-RU" dirty="0"/>
              <a:t>Эти категории отражают, насколько строго язык обращается с типами данных и какие операции он позволяет выполнять с этими типами.</a:t>
            </a:r>
          </a:p>
        </p:txBody>
      </p:sp>
    </p:spTree>
    <p:extLst>
      <p:ext uri="{BB962C8B-B14F-4D97-AF65-F5344CB8AC3E}">
        <p14:creationId xmlns:p14="http://schemas.microsoft.com/office/powerpoint/2010/main" val="382624940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6436891-0F99-537A-80C5-395D81E9C751}"/>
              </a:ext>
            </a:extLst>
          </p:cNvPr>
          <p:cNvSpPr>
            <a:spLocks noGrp="1"/>
          </p:cNvSpPr>
          <p:nvPr>
            <p:ph type="title"/>
          </p:nvPr>
        </p:nvSpPr>
        <p:spPr>
          <a:xfrm>
            <a:off x="1143001" y="316523"/>
            <a:ext cx="9905998" cy="2133600"/>
          </a:xfrm>
        </p:spPr>
        <p:txBody>
          <a:bodyPr>
            <a:normAutofit/>
          </a:bodyPr>
          <a:lstStyle/>
          <a:p>
            <a:pPr algn="ctr"/>
            <a:r>
              <a:rPr lang="ru-RU" dirty="0"/>
              <a:t>6</a:t>
            </a:r>
            <a:r>
              <a:rPr lang="en-US" dirty="0"/>
              <a:t>. </a:t>
            </a:r>
            <a:r>
              <a:rPr lang="ru-RU" dirty="0"/>
              <a:t>Классификация языков программирования по парадигме</a:t>
            </a:r>
          </a:p>
        </p:txBody>
      </p:sp>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2450123"/>
            <a:ext cx="9905999" cy="3927230"/>
          </a:xfrm>
        </p:spPr>
        <p:txBody>
          <a:bodyPr>
            <a:normAutofit/>
          </a:bodyPr>
          <a:lstStyle/>
          <a:p>
            <a:pPr marL="0" indent="0" algn="just">
              <a:buNone/>
            </a:pPr>
            <a:r>
              <a:rPr lang="ru-RU" b="1" i="1" dirty="0">
                <a:solidFill>
                  <a:srgbClr val="FFFF00"/>
                </a:solidFill>
              </a:rPr>
              <a:t>Парадигма программирования</a:t>
            </a:r>
            <a:r>
              <a:rPr lang="ru-RU" dirty="0"/>
              <a:t> — это совокупность идей и понятий, определяющих стиль написания компьютерных программ. Это способ концептуализации, который влияет на организацию вычислений и структурирование работы, выполняемой компьютером. Парадигма не определяется однозначно языком программирования; многие современные языки поддерживают использование различных парадигм, что называется </a:t>
            </a:r>
            <a:r>
              <a:rPr lang="ru-RU" dirty="0" err="1"/>
              <a:t>мультипарадигменным</a:t>
            </a:r>
            <a:r>
              <a:rPr lang="ru-RU" dirty="0"/>
              <a:t> программированием.</a:t>
            </a:r>
          </a:p>
        </p:txBody>
      </p:sp>
    </p:spTree>
    <p:extLst>
      <p:ext uri="{BB962C8B-B14F-4D97-AF65-F5344CB8AC3E}">
        <p14:creationId xmlns:p14="http://schemas.microsoft.com/office/powerpoint/2010/main" val="250812320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marL="0" indent="0" algn="just">
              <a:buNone/>
            </a:pPr>
            <a:r>
              <a:rPr lang="ru-RU" dirty="0"/>
              <a:t>Например, язык C не является объектно-ориентированным, но позволяет работать согласно принципам объектно-ориентированного программирования, хотя это может быть связано с определёнными сложностями. Аналогично, функциональное программирование можно применять на любом императивном языке, в котором имеются функции.</a:t>
            </a:r>
          </a:p>
          <a:p>
            <a:pPr marL="0" indent="0" algn="just">
              <a:buNone/>
            </a:pPr>
            <a:r>
              <a:rPr lang="ru-RU" dirty="0"/>
              <a:t>Существуют различные парадигмы программирования, и каждая из них предлагает уникальный подход к решению задач и структурированию программного кода.</a:t>
            </a:r>
          </a:p>
        </p:txBody>
      </p:sp>
    </p:spTree>
    <p:extLst>
      <p:ext uri="{BB962C8B-B14F-4D97-AF65-F5344CB8AC3E}">
        <p14:creationId xmlns:p14="http://schemas.microsoft.com/office/powerpoint/2010/main" val="286555638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marL="0" indent="0" algn="just">
              <a:buNone/>
            </a:pPr>
            <a:r>
              <a:rPr lang="ru-RU" dirty="0"/>
              <a:t>Языки программирования можно классифицировать </a:t>
            </a:r>
            <a:r>
              <a:rPr lang="ru-RU" b="1" i="1" dirty="0">
                <a:solidFill>
                  <a:srgbClr val="FFFF00"/>
                </a:solidFill>
              </a:rPr>
              <a:t>по парадигмам</a:t>
            </a:r>
            <a:r>
              <a:rPr lang="ru-RU" dirty="0"/>
              <a:t> на императивные и декларативные:</a:t>
            </a:r>
          </a:p>
          <a:p>
            <a:pPr algn="just"/>
            <a:r>
              <a:rPr lang="ru-RU" i="1" dirty="0">
                <a:solidFill>
                  <a:srgbClr val="FFFF00"/>
                </a:solidFill>
              </a:rPr>
              <a:t>Императивная парадигма</a:t>
            </a:r>
            <a:r>
              <a:rPr lang="ru-RU" dirty="0"/>
              <a:t>. Основана на последовательном выполнении команд, которые изменяют состояние программы. Программист указывает, какие шаги необходимо выполнить для достижения желаемого результата. Примеры императивных языков включают Java, Python, JavaScript, C, C++.</a:t>
            </a:r>
          </a:p>
        </p:txBody>
      </p:sp>
    </p:spTree>
    <p:extLst>
      <p:ext uri="{BB962C8B-B14F-4D97-AF65-F5344CB8AC3E}">
        <p14:creationId xmlns:p14="http://schemas.microsoft.com/office/powerpoint/2010/main" val="1893957700"/>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1"/>
            <a:ext cx="9905999" cy="3833446"/>
          </a:xfrm>
        </p:spPr>
        <p:txBody>
          <a:bodyPr>
            <a:normAutofit/>
          </a:bodyPr>
          <a:lstStyle/>
          <a:p>
            <a:pPr algn="just"/>
            <a:r>
              <a:rPr lang="ru-RU" i="1" dirty="0">
                <a:solidFill>
                  <a:srgbClr val="FFFF00"/>
                </a:solidFill>
              </a:rPr>
              <a:t>Декларативная парадигма</a:t>
            </a:r>
            <a:r>
              <a:rPr lang="ru-RU" dirty="0"/>
              <a:t>. Описывает, что должно быть сделано, а не как это должно быть сделано. Программист определяет желаемый результат, а система сама находит способ его достижения. Примеры декларативных языков включают SQL и HTML*.</a:t>
            </a:r>
          </a:p>
          <a:p>
            <a:pPr marL="0" indent="0" algn="just">
              <a:buNone/>
            </a:pPr>
            <a:r>
              <a:rPr lang="ru-RU" dirty="0"/>
              <a:t>Обе парадигмы имеют свои преимущества и используются для решения различных задач в программировании. Важно отметить, что многие современные языки программирования сочетают в себе элементы обеих парадигм, что делает их </a:t>
            </a:r>
            <a:r>
              <a:rPr lang="ru-RU" dirty="0" err="1"/>
              <a:t>мультипарадигменными</a:t>
            </a:r>
            <a:r>
              <a:rPr lang="ru-RU" dirty="0"/>
              <a:t>.</a:t>
            </a:r>
          </a:p>
        </p:txBody>
      </p:sp>
      <p:sp>
        <p:nvSpPr>
          <p:cNvPr id="2" name="Объект 2">
            <a:extLst>
              <a:ext uri="{FF2B5EF4-FFF2-40B4-BE49-F238E27FC236}">
                <a16:creationId xmlns:a16="http://schemas.microsoft.com/office/drawing/2014/main" xmlns="" id="{713C5AE6-B723-A522-F08D-A77D7AE7AAB5}"/>
              </a:ext>
            </a:extLst>
          </p:cNvPr>
          <p:cNvSpPr txBox="1">
            <a:spLocks/>
          </p:cNvSpPr>
          <p:nvPr/>
        </p:nvSpPr>
        <p:spPr>
          <a:xfrm>
            <a:off x="1143000" y="5955323"/>
            <a:ext cx="9905999" cy="761999"/>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just">
              <a:buNone/>
            </a:pPr>
            <a:r>
              <a:rPr lang="ru-RU" sz="2000" dirty="0"/>
              <a:t>*Формально </a:t>
            </a:r>
            <a:r>
              <a:rPr lang="en-US" sz="2000" dirty="0"/>
              <a:t>HTML</a:t>
            </a:r>
            <a:r>
              <a:rPr lang="ru-RU" sz="1800" dirty="0">
                <a:effectLst/>
                <a:ea typeface="Calibri" panose="020F0502020204030204" pitchFamily="34" charset="0"/>
                <a:cs typeface="Times New Roman" panose="02020603050405020304" pitchFamily="18" charset="0"/>
              </a:rPr>
              <a:t> </a:t>
            </a:r>
            <a:r>
              <a:rPr lang="ru-RU" sz="1800" dirty="0">
                <a:effectLst/>
                <a:ea typeface="Calibri" panose="020F0502020204030204" pitchFamily="34" charset="0"/>
              </a:rPr>
              <a:t>—</a:t>
            </a:r>
            <a:r>
              <a:rPr lang="ru-RU" sz="1800" dirty="0">
                <a:effectLst/>
                <a:ea typeface="Calibri" panose="020F0502020204030204" pitchFamily="34" charset="0"/>
                <a:cs typeface="Times New Roman" panose="02020603050405020304" pitchFamily="18" charset="0"/>
              </a:rPr>
              <a:t> </a:t>
            </a:r>
            <a:r>
              <a:rPr lang="ru-RU" sz="2000" dirty="0"/>
              <a:t>стандартизированный язык гипертекстовой разметки документов для просмотра веб-страниц в браузере, а не ЯП</a:t>
            </a:r>
          </a:p>
        </p:txBody>
      </p:sp>
    </p:spTree>
    <p:extLst>
      <p:ext uri="{BB962C8B-B14F-4D97-AF65-F5344CB8AC3E}">
        <p14:creationId xmlns:p14="http://schemas.microsoft.com/office/powerpoint/2010/main" val="132403160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marL="0" indent="0" algn="just">
              <a:buNone/>
            </a:pPr>
            <a:r>
              <a:rPr lang="ru-RU" dirty="0"/>
              <a:t>В свою очередь, процедурная и объектно-ориентированная парадигмы являются двумя подходами в рамках </a:t>
            </a:r>
            <a:r>
              <a:rPr lang="ru-RU" b="1" i="1" dirty="0">
                <a:solidFill>
                  <a:srgbClr val="FFFF00"/>
                </a:solidFill>
              </a:rPr>
              <a:t>императивной</a:t>
            </a:r>
            <a:r>
              <a:rPr lang="ru-RU" dirty="0"/>
              <a:t> парадигмы программирования:</a:t>
            </a:r>
          </a:p>
          <a:p>
            <a:pPr algn="just"/>
            <a:r>
              <a:rPr lang="ru-RU" i="1" dirty="0">
                <a:solidFill>
                  <a:srgbClr val="FFFF00"/>
                </a:solidFill>
              </a:rPr>
              <a:t>Процедурная парадигма</a:t>
            </a:r>
            <a:r>
              <a:rPr lang="ru-RU" dirty="0"/>
              <a:t>. Основывается на последовательности процедур или подпрограмм, которые выполняют операции над данными. Программы структурируются как наборы функций, которые вызывают друг друга. Это позволяет разбить сложные задачи на более простые подзадачи. Примеры языков, использующих процедурную парадигму, включают C и </a:t>
            </a:r>
            <a:r>
              <a:rPr lang="ru-RU" dirty="0" err="1"/>
              <a:t>Pascal</a:t>
            </a:r>
            <a:r>
              <a:rPr lang="ru-RU" dirty="0"/>
              <a:t>;</a:t>
            </a:r>
          </a:p>
        </p:txBody>
      </p:sp>
    </p:spTree>
    <p:extLst>
      <p:ext uri="{BB962C8B-B14F-4D97-AF65-F5344CB8AC3E}">
        <p14:creationId xmlns:p14="http://schemas.microsoft.com/office/powerpoint/2010/main" val="372755967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algn="just"/>
            <a:r>
              <a:rPr lang="ru-RU" i="1" dirty="0">
                <a:solidFill>
                  <a:srgbClr val="FFFF00"/>
                </a:solidFill>
              </a:rPr>
              <a:t>Объектно-ориентированная парадигма (ООП)</a:t>
            </a:r>
            <a:r>
              <a:rPr lang="ru-RU" dirty="0"/>
              <a:t>. Подход, при котором программы строятся вокруг объектов, которые представляют собой экземпляры классов. Классы определяют структуру данных и методы для обработки этих данных. ООП использует концепции наследования, инкапсуляции и полиморфизма для создания модульных и повторно используемых программ. Примеры языков, использующих ООП, включают Java и C#.</a:t>
            </a:r>
          </a:p>
          <a:p>
            <a:pPr marL="0" indent="0" algn="just">
              <a:buNone/>
            </a:pPr>
            <a:r>
              <a:rPr lang="ru-RU" dirty="0"/>
              <a:t>Функциональная и логическая парадигмы, напротив, являются двумя подходами в рамках </a:t>
            </a:r>
            <a:r>
              <a:rPr lang="ru-RU" b="1" i="1" dirty="0">
                <a:solidFill>
                  <a:srgbClr val="FFFF00"/>
                </a:solidFill>
              </a:rPr>
              <a:t>декларативной</a:t>
            </a:r>
            <a:r>
              <a:rPr lang="ru-RU" dirty="0"/>
              <a:t> парадигмы программирования:</a:t>
            </a:r>
          </a:p>
        </p:txBody>
      </p:sp>
    </p:spTree>
    <p:extLst>
      <p:ext uri="{BB962C8B-B14F-4D97-AF65-F5344CB8AC3E}">
        <p14:creationId xmlns:p14="http://schemas.microsoft.com/office/powerpoint/2010/main" val="2713233385"/>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24000"/>
            <a:ext cx="9905999" cy="4853353"/>
          </a:xfrm>
        </p:spPr>
        <p:txBody>
          <a:bodyPr>
            <a:normAutofit/>
          </a:bodyPr>
          <a:lstStyle/>
          <a:p>
            <a:pPr algn="just"/>
            <a:r>
              <a:rPr lang="ru-RU" i="1" dirty="0">
                <a:solidFill>
                  <a:srgbClr val="FFFF00"/>
                </a:solidFill>
              </a:rPr>
              <a:t>Функциональная парадигма</a:t>
            </a:r>
            <a:r>
              <a:rPr lang="ru-RU" dirty="0"/>
              <a:t>. Основана на использовании функций и вычислении результатов без изменения состояния и данных. Программы рассматриваются как набор математических функций, что облегчает тестирование и отладку. Примеры языков, использующих функциональную парадигму, включают </a:t>
            </a:r>
            <a:r>
              <a:rPr lang="ru-RU" dirty="0" err="1"/>
              <a:t>Haskell</a:t>
            </a:r>
            <a:r>
              <a:rPr lang="ru-RU" dirty="0"/>
              <a:t> и </a:t>
            </a:r>
            <a:r>
              <a:rPr lang="ru-RU" dirty="0" err="1"/>
              <a:t>Erlang</a:t>
            </a:r>
            <a:r>
              <a:rPr lang="ru-RU" dirty="0"/>
              <a:t>;</a:t>
            </a:r>
          </a:p>
          <a:p>
            <a:pPr algn="just"/>
            <a:r>
              <a:rPr lang="ru-RU" i="1" dirty="0">
                <a:solidFill>
                  <a:srgbClr val="FFFF00"/>
                </a:solidFill>
              </a:rPr>
              <a:t>Логическая парадигма</a:t>
            </a:r>
            <a:r>
              <a:rPr lang="ru-RU" dirty="0"/>
              <a:t>. Основана на формальной логике. Программы состоят из набора фактов и правил, которые используются для вывода новой информации. Программирование в логической парадигме часто связано с использованием языка </a:t>
            </a:r>
            <a:r>
              <a:rPr lang="ru-RU" dirty="0" err="1"/>
              <a:t>Prolog</a:t>
            </a:r>
            <a:r>
              <a:rPr lang="ru-RU" dirty="0"/>
              <a:t>.</a:t>
            </a:r>
          </a:p>
        </p:txBody>
      </p:sp>
    </p:spTree>
    <p:extLst>
      <p:ext uri="{BB962C8B-B14F-4D97-AF65-F5344CB8AC3E}">
        <p14:creationId xmlns:p14="http://schemas.microsoft.com/office/powerpoint/2010/main" val="157781717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35723"/>
            <a:ext cx="9905999" cy="4841630"/>
          </a:xfrm>
        </p:spPr>
        <p:txBody>
          <a:bodyPr>
            <a:normAutofit/>
          </a:bodyPr>
          <a:lstStyle/>
          <a:p>
            <a:pPr marL="0" indent="0" algn="just">
              <a:buNone/>
            </a:pPr>
            <a:r>
              <a:rPr lang="ru-RU" dirty="0"/>
              <a:t>Таким образом, рассмотренные нами аспекты теории языков программирования являются фундаментальными для понимания принципов, лежащих в основе разработки программного обеспечения. Владение лексикой, синтаксисом и семантикой языков программирования позволяет разработчикам правильно структурировать код и избегать ошибок, а осведомленность о различных типах классификации и парадигмах программирования обеспечивает гибкость в подходах к решению задач и способствует написанию более чистого и модульного кода.</a:t>
            </a:r>
          </a:p>
        </p:txBody>
      </p:sp>
    </p:spTree>
    <p:extLst>
      <p:ext uri="{BB962C8B-B14F-4D97-AF65-F5344CB8AC3E}">
        <p14:creationId xmlns:p14="http://schemas.microsoft.com/office/powerpoint/2010/main" val="360182880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535723"/>
            <a:ext cx="9905999" cy="4841630"/>
          </a:xfrm>
        </p:spPr>
        <p:txBody>
          <a:bodyPr>
            <a:normAutofit/>
          </a:bodyPr>
          <a:lstStyle/>
          <a:p>
            <a:pPr marL="0" indent="0" algn="just">
              <a:buNone/>
            </a:pPr>
            <a:r>
              <a:rPr lang="ru-RU" dirty="0"/>
              <a:t>Кроме того, данная информация так или иначе учитывается на этапах проектирования и разработки новых языков программирования и инструментов (как программных, так и аппаратных), которые могут в большей степени удовлетворять современным требованиям инженеров и разработчиков, задействованных в сфере информационных технологий.</a:t>
            </a:r>
          </a:p>
        </p:txBody>
      </p:sp>
    </p:spTree>
    <p:extLst>
      <p:ext uri="{BB962C8B-B14F-4D97-AF65-F5344CB8AC3E}">
        <p14:creationId xmlns:p14="http://schemas.microsoft.com/office/powerpoint/2010/main" val="3884734632"/>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46436891-0F99-537A-80C5-395D81E9C751}"/>
              </a:ext>
            </a:extLst>
          </p:cNvPr>
          <p:cNvSpPr>
            <a:spLocks noGrp="1"/>
          </p:cNvSpPr>
          <p:nvPr>
            <p:ph type="title"/>
          </p:nvPr>
        </p:nvSpPr>
        <p:spPr>
          <a:xfrm>
            <a:off x="1143001" y="164123"/>
            <a:ext cx="9905998" cy="1184031"/>
          </a:xfrm>
        </p:spPr>
        <p:txBody>
          <a:bodyPr>
            <a:normAutofit/>
          </a:bodyPr>
          <a:lstStyle/>
          <a:p>
            <a:pPr algn="ctr"/>
            <a:r>
              <a:rPr lang="ru-RU" dirty="0"/>
              <a:t>Список рекомендуемой литературы</a:t>
            </a:r>
          </a:p>
        </p:txBody>
      </p:sp>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1348154"/>
            <a:ext cx="9905999" cy="5193323"/>
          </a:xfrm>
        </p:spPr>
        <p:txBody>
          <a:bodyPr>
            <a:normAutofit/>
          </a:bodyPr>
          <a:lstStyle/>
          <a:p>
            <a:pPr marL="457200" indent="-457200" algn="just">
              <a:buAutoNum type="arabicPeriod"/>
            </a:pPr>
            <a:r>
              <a:rPr lang="en-US" dirty="0">
                <a:hlinkClick r:id="rId2"/>
              </a:rPr>
              <a:t>https://skillbox.ru/media/code/yazyki_programmirovaniya_chto_eto_takoe/</a:t>
            </a:r>
            <a:endParaRPr lang="ru-RU" dirty="0"/>
          </a:p>
          <a:p>
            <a:pPr marL="457200" indent="-457200" algn="just">
              <a:buAutoNum type="arabicPeriod"/>
            </a:pPr>
            <a:r>
              <a:rPr lang="en-US" dirty="0">
                <a:hlinkClick r:id="rId3"/>
              </a:rPr>
              <a:t>https://synergy.ru/akademiya/programming/chto_takoe_alfavit_programmirovaniya</a:t>
            </a:r>
            <a:endParaRPr lang="ru-RU" dirty="0"/>
          </a:p>
          <a:p>
            <a:pPr marL="457200" indent="-457200" algn="just">
              <a:buAutoNum type="arabicPeriod"/>
            </a:pPr>
            <a:r>
              <a:rPr lang="en-US" dirty="0">
                <a:hlinkClick r:id="rId4"/>
              </a:rPr>
              <a:t>https://tgmaster.ru/2024/02/26/sintaksis-yazyka-programmirovaniya-ponyatie-osobennosti-i-vazhnost-ego-pravilnogo-ispolzovaniya-dlya-sozdaniya-effektivnyh-algoritmov-i-programm/</a:t>
            </a:r>
            <a:endParaRPr lang="ru-RU" dirty="0"/>
          </a:p>
          <a:p>
            <a:pPr marL="457200" indent="-457200" algn="just">
              <a:buAutoNum type="arabicPeriod"/>
            </a:pPr>
            <a:r>
              <a:rPr lang="en-US" dirty="0">
                <a:hlinkClick r:id="rId5"/>
              </a:rPr>
              <a:t>https://spravochnick.ru/informatika/ponyatie_semantiki_v_informatike/</a:t>
            </a:r>
            <a:endParaRPr lang="ru-RU" dirty="0"/>
          </a:p>
          <a:p>
            <a:pPr marL="457200" indent="-457200" algn="just">
              <a:buAutoNum type="arabicPeriod"/>
            </a:pPr>
            <a:r>
              <a:rPr lang="en-US" dirty="0">
                <a:hlinkClick r:id="rId6"/>
              </a:rPr>
              <a:t>https://encode.ru/blog/urovni-yazykov-programmirovaniya-klassifikaciya-i-osobennosti</a:t>
            </a:r>
            <a:endParaRPr lang="ru-RU" dirty="0"/>
          </a:p>
        </p:txBody>
      </p:sp>
    </p:spTree>
    <p:extLst>
      <p:ext uri="{BB962C8B-B14F-4D97-AF65-F5344CB8AC3E}">
        <p14:creationId xmlns:p14="http://schemas.microsoft.com/office/powerpoint/2010/main" val="2694436127"/>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xmlns="" id="{485B23CB-7B73-F546-C786-119B2AB83BE0}"/>
              </a:ext>
            </a:extLst>
          </p:cNvPr>
          <p:cNvSpPr>
            <a:spLocks noGrp="1"/>
          </p:cNvSpPr>
          <p:nvPr>
            <p:ph idx="1"/>
          </p:nvPr>
        </p:nvSpPr>
        <p:spPr>
          <a:xfrm>
            <a:off x="1143000" y="375138"/>
            <a:ext cx="9905999" cy="6166339"/>
          </a:xfrm>
        </p:spPr>
        <p:txBody>
          <a:bodyPr>
            <a:normAutofit lnSpcReduction="10000"/>
          </a:bodyPr>
          <a:lstStyle/>
          <a:p>
            <a:pPr marL="457200" indent="-457200" algn="just">
              <a:buFont typeface="+mj-lt"/>
              <a:buAutoNum type="arabicPeriod" startAt="6"/>
            </a:pPr>
            <a:r>
              <a:rPr lang="en-US" dirty="0">
                <a:hlinkClick r:id="rId2"/>
              </a:rPr>
              <a:t>https://blog.sf.education/kakie-byvayut-yazyki-programmirovaniya/</a:t>
            </a:r>
            <a:endParaRPr lang="ru-RU" dirty="0"/>
          </a:p>
          <a:p>
            <a:pPr marL="457200" indent="-457200" algn="just">
              <a:buAutoNum type="arabicPeriod" startAt="6"/>
            </a:pPr>
            <a:r>
              <a:rPr lang="en-US" dirty="0">
                <a:hlinkClick r:id="rId3"/>
              </a:rPr>
              <a:t>https://practicum.yandex.ru/blog/chto-takoe-java-dlya-nachinayuschih/</a:t>
            </a:r>
            <a:endParaRPr lang="ru-RU" dirty="0"/>
          </a:p>
          <a:p>
            <a:pPr marL="457200" indent="-457200" algn="just">
              <a:buAutoNum type="arabicPeriod" startAt="6"/>
            </a:pPr>
            <a:r>
              <a:rPr lang="en-US" dirty="0">
                <a:hlinkClick r:id="rId4"/>
              </a:rPr>
              <a:t>https://wiki.fenix.help/informatika/klassifikatsiya-yazykov-programmirovaniya</a:t>
            </a:r>
            <a:endParaRPr lang="ru-RU" dirty="0"/>
          </a:p>
          <a:p>
            <a:pPr marL="457200" indent="-457200" algn="just">
              <a:buAutoNum type="arabicPeriod" startAt="6"/>
            </a:pPr>
            <a:r>
              <a:rPr lang="en-US" dirty="0">
                <a:hlinkClick r:id="rId5"/>
              </a:rPr>
              <a:t>https://tproger.ru/explain/tipizacija-jazykov-programmirovanija-razbiraemsja-v-osnovah</a:t>
            </a:r>
            <a:endParaRPr lang="ru-RU" dirty="0"/>
          </a:p>
          <a:p>
            <a:pPr marL="457200" indent="-457200" algn="just">
              <a:buAutoNum type="arabicPeriod" startAt="6"/>
            </a:pPr>
            <a:r>
              <a:rPr lang="en-US" dirty="0">
                <a:hlinkClick r:id="rId6"/>
              </a:rPr>
              <a:t>https://gb.ru/blog/paradigmy-programmirovaniya/</a:t>
            </a:r>
            <a:endParaRPr lang="ru-RU" dirty="0"/>
          </a:p>
          <a:p>
            <a:pPr marL="457200" indent="-457200" algn="just">
              <a:buAutoNum type="arabicPeriod" startAt="6"/>
            </a:pPr>
            <a:r>
              <a:rPr lang="en-US" dirty="0">
                <a:hlinkClick r:id="rId7"/>
              </a:rPr>
              <a:t>https://skillbox.ru/media/code/paradigmy-programmirovaniya-imperativnaya-deklarativnaya-oop-funktsionalnaya-i-drugie/</a:t>
            </a:r>
            <a:endParaRPr lang="ru-RU" dirty="0"/>
          </a:p>
          <a:p>
            <a:pPr marL="457200" indent="-457200" algn="just">
              <a:buAutoNum type="arabicPeriod" startAt="6"/>
            </a:pPr>
            <a:r>
              <a:rPr lang="en-US" dirty="0">
                <a:hlinkClick r:id="rId8"/>
              </a:rPr>
              <a:t>https://studme.org/210659/informatika/obektno_orientirovannaya_paradigma</a:t>
            </a:r>
            <a:endParaRPr lang="ru-RU" dirty="0"/>
          </a:p>
          <a:p>
            <a:pPr marL="457200" indent="-457200" algn="just">
              <a:buAutoNum type="arabicPeriod" startAt="6"/>
            </a:pPr>
            <a:r>
              <a:rPr lang="en-US" dirty="0">
                <a:hlinkClick r:id="rId9"/>
              </a:rPr>
              <a:t>https://tproger.ru/experts/imperative-and-declarative-programming</a:t>
            </a:r>
            <a:endParaRPr lang="ru-RU" dirty="0"/>
          </a:p>
        </p:txBody>
      </p:sp>
    </p:spTree>
    <p:extLst>
      <p:ext uri="{BB962C8B-B14F-4D97-AF65-F5344CB8AC3E}">
        <p14:creationId xmlns:p14="http://schemas.microsoft.com/office/powerpoint/2010/main" val="3438599576"/>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Заголовок 6">
            <a:extLst>
              <a:ext uri="{FF2B5EF4-FFF2-40B4-BE49-F238E27FC236}">
                <a16:creationId xmlns:a16="http://schemas.microsoft.com/office/drawing/2014/main" xmlns="" id="{9FD09879-51B4-41AD-BEED-A9109E0DFE4E}"/>
              </a:ext>
            </a:extLst>
          </p:cNvPr>
          <p:cNvSpPr>
            <a:spLocks noGrp="1"/>
          </p:cNvSpPr>
          <p:nvPr>
            <p:ph type="title"/>
          </p:nvPr>
        </p:nvSpPr>
        <p:spPr>
          <a:xfrm>
            <a:off x="1143001" y="2689715"/>
            <a:ext cx="9905998" cy="1478570"/>
          </a:xfrm>
        </p:spPr>
        <p:txBody>
          <a:bodyPr/>
          <a:lstStyle/>
          <a:p>
            <a:pPr algn="ctr"/>
            <a:r>
              <a:rPr lang="ru-RU" b="1" dirty="0"/>
              <a:t>Спасибо за внимание!</a:t>
            </a:r>
          </a:p>
        </p:txBody>
      </p:sp>
    </p:spTree>
    <p:extLst>
      <p:ext uri="{BB962C8B-B14F-4D97-AF65-F5344CB8AC3E}">
        <p14:creationId xmlns:p14="http://schemas.microsoft.com/office/powerpoint/2010/main" val="3587634103"/>
      </p:ext>
    </p:extLst>
  </p:cSld>
  <p:clrMapOvr>
    <a:masterClrMapping/>
  </p:clrMapOvr>
  <mc:AlternateContent xmlns:mc="http://schemas.openxmlformats.org/markup-compatibility/2006" xmlns:p14="http://schemas.microsoft.com/office/powerpoint/2010/main">
    <mc:Choice Requires="p14">
      <p:transition spd="slow">
        <p14:reveal/>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Контур">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xmlns="" name="Circuit" id="{0AC2F7E7-15F5-431C-B2A2-456FE929F56C}" vid="{142578CA-DEC9-49C3-80AF-C113973CC9A9}"/>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TM04033919[[fn=Контур]]</Template>
  <TotalTime>439</TotalTime>
  <Words>1718</Words>
  <Application>Microsoft Office PowerPoint</Application>
  <PresentationFormat>Произвольный</PresentationFormat>
  <Paragraphs>76</Paragraphs>
  <Slides>29</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29</vt:i4>
      </vt:variant>
    </vt:vector>
  </HeadingPairs>
  <TitlesOfParts>
    <vt:vector size="30" baseType="lpstr">
      <vt:lpstr>Контур</vt:lpstr>
      <vt:lpstr>Особенности технологии проектирования языков программирования</vt:lpstr>
      <vt:lpstr>План лекционного занятия</vt:lpstr>
      <vt:lpstr>Понятие языка программирования</vt:lpstr>
      <vt:lpstr>Презентация PowerPoint</vt:lpstr>
      <vt:lpstr>Презентация PowerPoint</vt:lpstr>
      <vt:lpstr>Презентация PowerPoint</vt:lpstr>
      <vt:lpstr>Презентация PowerPoint</vt:lpstr>
      <vt:lpstr>Презентация PowerPoint</vt:lpstr>
      <vt:lpstr>2. Классификация языков программирования по уровню абстракции</vt:lpstr>
      <vt:lpstr>Презентация PowerPoint</vt:lpstr>
      <vt:lpstr>3. Классификация языков программирования на основе реализации</vt:lpstr>
      <vt:lpstr>Презентация PowerPoint</vt:lpstr>
      <vt:lpstr>Презентация PowerPoint</vt:lpstr>
      <vt:lpstr>4. Классификация языков программирования по виду типизации</vt:lpstr>
      <vt:lpstr>Презентация PowerPoint</vt:lpstr>
      <vt:lpstr>5. Классификация языков программирования по строгости типизации</vt:lpstr>
      <vt:lpstr>Презентация PowerPoint</vt:lpstr>
      <vt:lpstr>6. Классификация языков программирования по парадигме</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Список рекомендуемой литературы</vt:lpstr>
      <vt:lpstr>Презентация PowerPoint</vt:lpstr>
      <vt:lpstr>Спасибо за внимание!</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 Файловая система и операционная система: взаимодействие с файловой системой, выполнение команд в операционной системе из Python</dc:title>
  <dc:creator>Valeriya Apsalyamova</dc:creator>
  <cp:lastModifiedBy>asus</cp:lastModifiedBy>
  <cp:revision>48</cp:revision>
  <dcterms:created xsi:type="dcterms:W3CDTF">2024-04-04T12:27:17Z</dcterms:created>
  <dcterms:modified xsi:type="dcterms:W3CDTF">2025-03-04T17:08:59Z</dcterms:modified>
</cp:coreProperties>
</file>